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ihye Choi"/>
          <p:cNvSpPr txBox="1"/>
          <p:nvPr>
            <p:ph type="body" idx="21"/>
          </p:nvPr>
        </p:nvSpPr>
        <p:spPr>
          <a:xfrm>
            <a:off x="1105586" y="12105684"/>
            <a:ext cx="5396870" cy="10837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Jihye Choi</a:t>
            </a:r>
          </a:p>
        </p:txBody>
      </p:sp>
      <p:sp>
        <p:nvSpPr>
          <p:cNvPr id="152" name="Portfolio"/>
          <p:cNvSpPr txBox="1"/>
          <p:nvPr>
            <p:ph type="ctrTitle"/>
          </p:nvPr>
        </p:nvSpPr>
        <p:spPr>
          <a:xfrm>
            <a:off x="1088748" y="549994"/>
            <a:ext cx="8802555" cy="1831458"/>
          </a:xfrm>
          <a:prstGeom prst="rect">
            <a:avLst/>
          </a:prstGeom>
        </p:spPr>
        <p:txBody>
          <a:bodyPr anchor="ctr"/>
          <a:lstStyle>
            <a:lvl1pPr defTabSz="2389572">
              <a:defRPr spc="-227" sz="11368"/>
            </a:lvl1pPr>
          </a:lstStyle>
          <a:p>
            <a:pPr/>
            <a:r>
              <a:t>Portfolio</a:t>
            </a:r>
          </a:p>
        </p:txBody>
      </p:sp>
      <p:sp>
        <p:nvSpPr>
          <p:cNvPr id="153" name="UX/UI Architect or Product UX/UI Designer"/>
          <p:cNvSpPr txBox="1"/>
          <p:nvPr>
            <p:ph type="subTitle" sz="quarter" idx="1"/>
          </p:nvPr>
        </p:nvSpPr>
        <p:spPr>
          <a:xfrm>
            <a:off x="1083594" y="12907518"/>
            <a:ext cx="8812863" cy="844431"/>
          </a:xfrm>
          <a:prstGeom prst="rect">
            <a:avLst/>
          </a:prstGeom>
        </p:spPr>
        <p:txBody>
          <a:bodyPr/>
          <a:lstStyle>
            <a:lvl1pPr defTabSz="457200">
              <a:defRPr b="0" sz="2900">
                <a:solidFill>
                  <a:srgbClr val="929292"/>
                </a:solidFill>
              </a:defRPr>
            </a:lvl1pPr>
          </a:lstStyle>
          <a:p>
            <a:pPr/>
            <a:r>
              <a:t>UX/UI Architect or Product UX/UI Designer</a:t>
            </a:r>
          </a:p>
        </p:txBody>
      </p:sp>
      <p:pic>
        <p:nvPicPr>
          <p:cNvPr id="154" name="workflowManagerMockup2.png" descr="workflowManagerMockup2.png"/>
          <p:cNvPicPr>
            <a:picLocks noChangeAspect="1"/>
          </p:cNvPicPr>
          <p:nvPr/>
        </p:nvPicPr>
        <p:blipFill>
          <a:blip r:embed="rId2">
            <a:extLst/>
          </a:blip>
          <a:srcRect l="0" t="0" r="16548" b="0"/>
          <a:stretch>
            <a:fillRect/>
          </a:stretch>
        </p:blipFill>
        <p:spPr>
          <a:xfrm>
            <a:off x="5666979" y="2076747"/>
            <a:ext cx="17825033" cy="1100026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" name="Complex systems  into intuitive workflows"/>
          <p:cNvSpPr txBox="1"/>
          <p:nvPr/>
        </p:nvSpPr>
        <p:spPr>
          <a:xfrm>
            <a:off x="1130187" y="3174315"/>
            <a:ext cx="6649608" cy="7367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 defTabSz="2243271">
              <a:lnSpc>
                <a:spcPct val="80000"/>
              </a:lnSpc>
              <a:defRPr b="1" spc="-213" sz="10672">
                <a:solidFill>
                  <a:srgbClr val="D5D5D5"/>
                </a:solidFill>
              </a:defRPr>
            </a:pPr>
            <a:r>
              <a:t>Complex systems </a:t>
            </a:r>
            <a:br/>
            <a:r>
              <a:t>into intuitive workflows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bout me"/>
          <p:cNvSpPr txBox="1"/>
          <p:nvPr>
            <p:ph type="title"/>
          </p:nvPr>
        </p:nvSpPr>
        <p:spPr>
          <a:xfrm>
            <a:off x="1075498" y="468363"/>
            <a:ext cx="5130860" cy="1433164"/>
          </a:xfrm>
          <a:prstGeom prst="rect">
            <a:avLst/>
          </a:prstGeom>
        </p:spPr>
        <p:txBody>
          <a:bodyPr/>
          <a:lstStyle/>
          <a:p>
            <a:pPr/>
            <a:r>
              <a:t>About me</a:t>
            </a:r>
          </a:p>
        </p:txBody>
      </p:sp>
      <p:sp>
        <p:nvSpPr>
          <p:cNvPr id="159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" name="교육  Education"/>
          <p:cNvSpPr txBox="1"/>
          <p:nvPr/>
        </p:nvSpPr>
        <p:spPr>
          <a:xfrm>
            <a:off x="9850515" y="3144546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교육</a:t>
            </a:r>
            <a:r>
              <a:t>  </a:t>
            </a:r>
            <a:r>
              <a:rPr>
                <a:solidFill>
                  <a:srgbClr val="D5D5D5"/>
                </a:solidFill>
              </a:rPr>
              <a:t>Education</a:t>
            </a:r>
          </a:p>
        </p:txBody>
      </p:sp>
      <p:sp>
        <p:nvSpPr>
          <p:cNvPr id="161" name="뉴욕 Pratt Institute 산업디자인 전공…"/>
          <p:cNvSpPr txBox="1"/>
          <p:nvPr/>
        </p:nvSpPr>
        <p:spPr>
          <a:xfrm>
            <a:off x="9841768" y="4228152"/>
            <a:ext cx="5615760" cy="112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뉴욕 Pratt Institute 산업디자인 전공</a:t>
            </a:r>
          </a:p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섬유미술 학사</a:t>
            </a:r>
          </a:p>
        </p:txBody>
      </p:sp>
      <p:sp>
        <p:nvSpPr>
          <p:cNvPr id="162" name="경력  Professional Experience"/>
          <p:cNvSpPr txBox="1"/>
          <p:nvPr/>
        </p:nvSpPr>
        <p:spPr>
          <a:xfrm>
            <a:off x="9850515" y="6650392"/>
            <a:ext cx="6389053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경력 </a:t>
            </a:r>
            <a:r>
              <a:t> </a:t>
            </a:r>
            <a:r>
              <a:rPr spc="-107">
                <a:solidFill>
                  <a:srgbClr val="D5D5D5"/>
                </a:solidFill>
              </a:rPr>
              <a:t>Professional Experience</a:t>
            </a:r>
          </a:p>
        </p:txBody>
      </p:sp>
      <p:sp>
        <p:nvSpPr>
          <p:cNvPr id="163" name="5년 이상의 UX/UI 실무 경험…"/>
          <p:cNvSpPr txBox="1"/>
          <p:nvPr/>
        </p:nvSpPr>
        <p:spPr>
          <a:xfrm>
            <a:off x="9841768" y="7742540"/>
            <a:ext cx="6629705" cy="1620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5년 이상의 UX/UI 실무 경험</a:t>
            </a:r>
          </a:p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B2B 플랫폼, 모빌리티 서비스, </a:t>
            </a:r>
            <a:br/>
            <a:r>
              <a:t>글로벌 제품 디자인 경험</a:t>
            </a:r>
          </a:p>
        </p:txBody>
      </p:sp>
      <p:sp>
        <p:nvSpPr>
          <p:cNvPr id="164" name="전문성  Core Expertise"/>
          <p:cNvSpPr txBox="1"/>
          <p:nvPr/>
        </p:nvSpPr>
        <p:spPr>
          <a:xfrm>
            <a:off x="9850515" y="10504131"/>
            <a:ext cx="5748249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전문성</a:t>
            </a:r>
            <a:r>
              <a:t>  </a:t>
            </a:r>
            <a:r>
              <a:rPr>
                <a:solidFill>
                  <a:srgbClr val="D5D5D5"/>
                </a:solidFill>
              </a:rPr>
              <a:t>Core Expertise</a:t>
            </a:r>
          </a:p>
        </p:txBody>
      </p:sp>
      <p:sp>
        <p:nvSpPr>
          <p:cNvPr id="165" name="복잡한 시스템 UX, 워크플로우 설계,…"/>
          <p:cNvSpPr txBox="1"/>
          <p:nvPr/>
        </p:nvSpPr>
        <p:spPr>
          <a:xfrm>
            <a:off x="9841768" y="11564382"/>
            <a:ext cx="5615760" cy="112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복잡한 시스템 UX, 워크플로우 설계, </a:t>
            </a:r>
          </a:p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정보 구조(IA) 설계</a:t>
            </a:r>
          </a:p>
        </p:txBody>
      </p:sp>
      <p:pic>
        <p:nvPicPr>
          <p:cNvPr id="166" name="07351318-3098-4B25-8611-2EF229DC1FE6.PNG" descr="07351318-3098-4B25-8611-2EF229DC1FE6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52102" y="1202585"/>
            <a:ext cx="8624392" cy="1293658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스킬  Skills &amp; Tools"/>
          <p:cNvSpPr txBox="1"/>
          <p:nvPr/>
        </p:nvSpPr>
        <p:spPr>
          <a:xfrm>
            <a:off x="17445395" y="6650392"/>
            <a:ext cx="4837627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스킬</a:t>
            </a:r>
            <a:r>
              <a:t>  </a:t>
            </a:r>
            <a:r>
              <a:rPr>
                <a:solidFill>
                  <a:srgbClr val="D5D5D5"/>
                </a:solidFill>
              </a:rPr>
              <a:t>Skills &amp; Tools</a:t>
            </a:r>
          </a:p>
        </p:txBody>
      </p:sp>
      <p:sp>
        <p:nvSpPr>
          <p:cNvPr id="168" name="Figma, Adobe Suite…"/>
          <p:cNvSpPr txBox="1"/>
          <p:nvPr/>
        </p:nvSpPr>
        <p:spPr>
          <a:xfrm>
            <a:off x="17436649" y="7742540"/>
            <a:ext cx="5232786" cy="217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1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Figma, Adobe Suite</a:t>
            </a:r>
          </a:p>
          <a:p>
            <a:pPr algn="l" defTabSz="457200">
              <a:spcBef>
                <a:spcPts val="11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HTML/CSS 기반 협업 가능</a:t>
            </a:r>
          </a:p>
          <a:p>
            <a:pPr algn="l" defTabSz="457200">
              <a:spcBef>
                <a:spcPts val="11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Wireframe, Prototype</a:t>
            </a:r>
          </a:p>
          <a:p>
            <a:pPr algn="l" defTabSz="457200">
              <a:spcBef>
                <a:spcPts val="11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Design System 설계 경험</a:t>
            </a:r>
          </a:p>
        </p:txBody>
      </p:sp>
      <p:sp>
        <p:nvSpPr>
          <p:cNvPr id="169" name="멀티 도메인 경험 Cross-domain"/>
          <p:cNvSpPr txBox="1"/>
          <p:nvPr/>
        </p:nvSpPr>
        <p:spPr>
          <a:xfrm>
            <a:off x="17445395" y="3144546"/>
            <a:ext cx="6389053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pc="-107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멀티 도메인 경험</a:t>
            </a:r>
            <a:r>
              <a:t> </a:t>
            </a:r>
            <a:r>
              <a:rPr>
                <a:solidFill>
                  <a:srgbClr val="D5D5D5"/>
                </a:solidFill>
              </a:rPr>
              <a:t>Cross-domain</a:t>
            </a:r>
          </a:p>
        </p:txBody>
      </p:sp>
      <p:sp>
        <p:nvSpPr>
          <p:cNvPr id="170" name="모빌리티, B2B SaaS, 마케팅,…"/>
          <p:cNvSpPr txBox="1"/>
          <p:nvPr/>
        </p:nvSpPr>
        <p:spPr>
          <a:xfrm>
            <a:off x="17445395" y="4228152"/>
            <a:ext cx="7180877" cy="1620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모빌리티, B2B SaaS, 마케팅,</a:t>
            </a:r>
          </a:p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패션/생산 등다양한 산업 경험</a:t>
            </a:r>
          </a:p>
        </p:txBody>
      </p:sp>
      <p:sp>
        <p:nvSpPr>
          <p:cNvPr id="171" name="언어  Languages"/>
          <p:cNvSpPr txBox="1"/>
          <p:nvPr/>
        </p:nvSpPr>
        <p:spPr>
          <a:xfrm>
            <a:off x="17445395" y="10504131"/>
            <a:ext cx="3981365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b="1" sz="3600"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언어</a:t>
            </a:r>
            <a:r>
              <a:t>  </a:t>
            </a:r>
            <a:r>
              <a:rPr>
                <a:solidFill>
                  <a:srgbClr val="D5D5D5"/>
                </a:solidFill>
              </a:rPr>
              <a:t>Languages</a:t>
            </a:r>
          </a:p>
        </p:txBody>
      </p:sp>
      <p:sp>
        <p:nvSpPr>
          <p:cNvPr id="172" name="한국어 (Native)…"/>
          <p:cNvSpPr txBox="1"/>
          <p:nvPr/>
        </p:nvSpPr>
        <p:spPr>
          <a:xfrm>
            <a:off x="17436649" y="11564382"/>
            <a:ext cx="5748249" cy="1758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한국어 (Native)</a:t>
            </a:r>
          </a:p>
          <a:p>
            <a:pPr algn="l" defTabSz="457200">
              <a:spcBef>
                <a:spcPts val="1600"/>
              </a:spcBef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영어 (업무 커뮤니케이션 가능)</a:t>
            </a:r>
            <a:br/>
            <a:r>
              <a:t>TOEIC 915, TOFEL 94</a:t>
            </a:r>
          </a:p>
        </p:txBody>
      </p:sp>
      <p:sp>
        <p:nvSpPr>
          <p:cNvPr id="173" name="Rectangle"/>
          <p:cNvSpPr/>
          <p:nvPr/>
        </p:nvSpPr>
        <p:spPr>
          <a:xfrm>
            <a:off x="9388398" y="3144546"/>
            <a:ext cx="192132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4" name="Rectangle"/>
          <p:cNvSpPr/>
          <p:nvPr/>
        </p:nvSpPr>
        <p:spPr>
          <a:xfrm>
            <a:off x="9374269" y="6650392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5" name="Rectangle"/>
          <p:cNvSpPr/>
          <p:nvPr/>
        </p:nvSpPr>
        <p:spPr>
          <a:xfrm>
            <a:off x="9374269" y="10504131"/>
            <a:ext cx="192133" cy="625326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Rectangle"/>
          <p:cNvSpPr/>
          <p:nvPr/>
        </p:nvSpPr>
        <p:spPr>
          <a:xfrm>
            <a:off x="16908054" y="6650392"/>
            <a:ext cx="209614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Rectangle"/>
          <p:cNvSpPr/>
          <p:nvPr/>
        </p:nvSpPr>
        <p:spPr>
          <a:xfrm>
            <a:off x="16908054" y="3144546"/>
            <a:ext cx="209614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8" name="Rectangle"/>
          <p:cNvSpPr/>
          <p:nvPr/>
        </p:nvSpPr>
        <p:spPr>
          <a:xfrm>
            <a:off x="16908054" y="10504131"/>
            <a:ext cx="209614" cy="625326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81" name="Group"/>
          <p:cNvGrpSpPr/>
          <p:nvPr/>
        </p:nvGrpSpPr>
        <p:grpSpPr>
          <a:xfrm>
            <a:off x="9385934" y="795403"/>
            <a:ext cx="14055695" cy="1041401"/>
            <a:chOff x="0" y="0"/>
            <a:chExt cx="14055693" cy="1041400"/>
          </a:xfrm>
        </p:grpSpPr>
        <p:sp>
          <p:nvSpPr>
            <p:cNvPr id="179" name="Rectangle"/>
            <p:cNvSpPr/>
            <p:nvPr/>
          </p:nvSpPr>
          <p:spPr>
            <a:xfrm>
              <a:off x="8846274" y="633667"/>
              <a:ext cx="2703757" cy="407733"/>
            </a:xfrm>
            <a:prstGeom prst="rect">
              <a:avLst/>
            </a:prstGeom>
            <a:solidFill>
              <a:schemeClr val="accent4">
                <a:hueOff val="348544"/>
                <a:lumOff val="7139"/>
                <a:alpha val="7923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0" name="안녕하세요! 저는 다양한 도메인 경험을 바탕으로, B2B 플랫폼 환경에서  복잡한 시스템을 직관적인 사용자 경험으로 구조화하는 UX UI 디자이너입니다."/>
            <p:cNvSpPr txBox="1"/>
            <p:nvPr/>
          </p:nvSpPr>
          <p:spPr>
            <a:xfrm>
              <a:off x="0" y="0"/>
              <a:ext cx="14055694" cy="104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 defTabSz="457200">
                <a:defRPr sz="3200">
                  <a:solidFill>
                    <a:srgbClr val="2337BE"/>
                  </a:solidFill>
                  <a:latin typeface="나눔바른고딕OTF"/>
                  <a:ea typeface="나눔바른고딕OTF"/>
                  <a:cs typeface="나눔바른고딕OTF"/>
                  <a:sym typeface="나눔바른고딕OTF"/>
                </a:defRPr>
              </a:pPr>
              <a:r>
                <a:t>안녕하세요! 저는 다양한 도메인 경험을 바탕으로, B2B 플랫폼 환경에서 </a:t>
              </a:r>
              <a:br/>
              <a:r>
                <a:t>복잡한 시스템을 직관적인 사용자 경험으로 구조화하는 </a:t>
              </a:r>
              <a:r>
                <a:rPr b="1"/>
                <a:t>UX UI 디자이너</a:t>
              </a:r>
              <a:r>
                <a:t>입니다.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roject. 1"/>
          <p:cNvSpPr txBox="1"/>
          <p:nvPr>
            <p:ph type="title"/>
          </p:nvPr>
        </p:nvSpPr>
        <p:spPr>
          <a:xfrm>
            <a:off x="356034" y="-354281"/>
            <a:ext cx="5130860" cy="1433164"/>
          </a:xfrm>
          <a:prstGeom prst="rect">
            <a:avLst/>
          </a:prstGeom>
        </p:spPr>
        <p:txBody>
          <a:bodyPr/>
          <a:lstStyle>
            <a:lvl1pPr defTabSz="2316421">
              <a:defRPr spc="-262" sz="8740">
                <a:solidFill>
                  <a:srgbClr val="D5D5D5"/>
                </a:solidFill>
              </a:defRPr>
            </a:lvl1pPr>
          </a:lstStyle>
          <a:p>
            <a:pPr/>
            <a:r>
              <a:t>Project. 1</a:t>
            </a:r>
          </a:p>
        </p:txBody>
      </p:sp>
      <p:sp>
        <p:nvSpPr>
          <p:cNvPr id="184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R3S Workflow Manager"/>
          <p:cNvSpPr txBox="1"/>
          <p:nvPr/>
        </p:nvSpPr>
        <p:spPr>
          <a:xfrm>
            <a:off x="1060891" y="1289432"/>
            <a:ext cx="865022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R3S Workflow Manager</a:t>
            </a:r>
          </a:p>
        </p:txBody>
      </p:sp>
      <p:sp>
        <p:nvSpPr>
          <p:cNvPr id="186" name="Background &amp; Problem"/>
          <p:cNvSpPr txBox="1"/>
          <p:nvPr/>
        </p:nvSpPr>
        <p:spPr>
          <a:xfrm>
            <a:off x="15610609" y="921752"/>
            <a:ext cx="6588278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Background &amp; Problem</a:t>
            </a:r>
          </a:p>
        </p:txBody>
      </p:sp>
      <p:sp>
        <p:nvSpPr>
          <p:cNvPr id="187" name="Rectangle"/>
          <p:cNvSpPr/>
          <p:nvPr/>
        </p:nvSpPr>
        <p:spPr>
          <a:xfrm>
            <a:off x="15148492" y="921752"/>
            <a:ext cx="192133" cy="625326"/>
          </a:xfrm>
          <a:prstGeom prst="rect">
            <a:avLst/>
          </a:prstGeom>
          <a:solidFill>
            <a:srgbClr val="2337BE">
              <a:alpha val="5133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8" name="R3S Modeler는 계리 현금흐름을 생성하는 전문 소프트웨어로, 모델 실행(run), 결과 확인, 리포팅 등의 과정이 분산되어 있어 전체 흐름을 파악하고 관리하는 데 어려움이 있었습니다.…"/>
          <p:cNvSpPr txBox="1"/>
          <p:nvPr/>
        </p:nvSpPr>
        <p:spPr>
          <a:xfrm>
            <a:off x="15564311" y="1786147"/>
            <a:ext cx="8392787" cy="1970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200"/>
              </a:spcBef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R3S Modeler는 계리 현금흐름을 생성하는 전문 소프트웨어로, 모델 실행(run), 결과 확인, 리포팅 등의 과정이 분산되어 있어 전체 흐름을 파악하고 관리하는 데 어려움이 있었습니다.</a:t>
            </a:r>
          </a:p>
          <a:p>
            <a:pPr algn="l" defTabSz="457200">
              <a:spcBef>
                <a:spcPts val="1200"/>
              </a:spcBef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이로 인해 실행 상태 추적, 결과 접근, 업무 이해 측면에서 비효율이 발생했습니다.</a:t>
            </a:r>
          </a:p>
        </p:txBody>
      </p:sp>
      <p:sp>
        <p:nvSpPr>
          <p:cNvPr id="189" name="Solution"/>
          <p:cNvSpPr txBox="1"/>
          <p:nvPr/>
        </p:nvSpPr>
        <p:spPr>
          <a:xfrm>
            <a:off x="15610609" y="4156555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Solution</a:t>
            </a:r>
          </a:p>
        </p:txBody>
      </p:sp>
      <p:sp>
        <p:nvSpPr>
          <p:cNvPr id="190" name="Rectangle"/>
          <p:cNvSpPr/>
          <p:nvPr/>
        </p:nvSpPr>
        <p:spPr>
          <a:xfrm>
            <a:off x="15148492" y="4156555"/>
            <a:ext cx="192133" cy="625325"/>
          </a:xfrm>
          <a:prstGeom prst="rect">
            <a:avLst/>
          </a:prstGeom>
          <a:solidFill>
            <a:srgbClr val="2337BE">
              <a:alpha val="5089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1" name="이러한 문제를 해결하기 위해 모델 실행, 모니터링, 리포팅을 하나의 환경에서 관리할 수 있는 Workflow Manager가 개발되었습니다.…"/>
          <p:cNvSpPr txBox="1"/>
          <p:nvPr/>
        </p:nvSpPr>
        <p:spPr>
          <a:xfrm>
            <a:off x="15518984" y="4976683"/>
            <a:ext cx="8483441" cy="2321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200"/>
              </a:spcBef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이러한 문제를 해결하기 위해 모델 실행, 모니터링, 리포팅을 하나의 환경에서 관리할 수 있는 Workflow Manager가 개발되었습니다.</a:t>
            </a:r>
          </a:p>
          <a:p>
            <a:pPr algn="l" defTabSz="457200">
              <a:spcBef>
                <a:spcPts val="1200"/>
              </a:spcBef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해당 플랫폼은 IFRS17, Solvency II, ICS 등 엔터프라이즈 환경의 컴플라이언스를 지원하며, 자동화된 workflow와 API 기반 운영이 가능하도록 설계되었습니다.</a:t>
            </a:r>
          </a:p>
        </p:txBody>
      </p:sp>
      <p:sp>
        <p:nvSpPr>
          <p:cNvPr id="192" name="R3S 모델 실행을 관리하고, 분산된 계리 업무를 하나의 흐름으로 통합하는 웹 기반 플랫폼"/>
          <p:cNvSpPr txBox="1"/>
          <p:nvPr/>
        </p:nvSpPr>
        <p:spPr>
          <a:xfrm>
            <a:off x="1060891" y="2494029"/>
            <a:ext cx="120617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pc="-84"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R3S 모델 실행을 관리하고, 분산된 계리 업무를 하나의 흐름으로 통합하는 웹 기반 플랫폼</a:t>
            </a:r>
          </a:p>
        </p:txBody>
      </p:sp>
      <p:sp>
        <p:nvSpPr>
          <p:cNvPr id="193" name="My Contribution"/>
          <p:cNvSpPr txBox="1"/>
          <p:nvPr/>
        </p:nvSpPr>
        <p:spPr>
          <a:xfrm>
            <a:off x="15610609" y="7917432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My Contribution</a:t>
            </a:r>
          </a:p>
        </p:txBody>
      </p:sp>
      <p:sp>
        <p:nvSpPr>
          <p:cNvPr id="194" name="Rectangle"/>
          <p:cNvSpPr/>
          <p:nvPr/>
        </p:nvSpPr>
        <p:spPr>
          <a:xfrm>
            <a:off x="15148492" y="7917432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Workflow Manager의 초기 UI 설계 및 개선을 담당하며, 각 페이지에서 사용자가 기능을 보다 직관적으로 이해하고 사용할 수 있도록 화면 구조와 사용자 흐름을 개선했습니다.…"/>
          <p:cNvSpPr txBox="1"/>
          <p:nvPr/>
        </p:nvSpPr>
        <p:spPr>
          <a:xfrm>
            <a:off x="15518984" y="8885560"/>
            <a:ext cx="8392786" cy="3908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Workflow Manager의 초기 UI 설계 및 개선을 담당하며, 각 페이지에서 사용자가 기능을 보다 직관적으로 이해하고 사용할 수 있도록 화면 구조와 사용자 흐름을 개선했습니다.</a:t>
            </a:r>
          </a:p>
          <a:p>
            <a:pPr algn="l" defTabSz="457200">
              <a:defRPr sz="20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UI 구조 설계 및 화면 구성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페이지 단위 사용자 흐름 개선 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Design System 구축 및 확장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3년간 지속적인 UI/UX 개선</a:t>
            </a:r>
          </a:p>
        </p:txBody>
      </p:sp>
      <p:sp>
        <p:nvSpPr>
          <p:cNvPr id="196" name="Line"/>
          <p:cNvSpPr/>
          <p:nvPr/>
        </p:nvSpPr>
        <p:spPr>
          <a:xfrm>
            <a:off x="15124365" y="7393076"/>
            <a:ext cx="8650225" cy="1"/>
          </a:xfrm>
          <a:prstGeom prst="line">
            <a:avLst/>
          </a:prstGeom>
          <a:ln w="38100" cap="rnd">
            <a:solidFill>
              <a:srgbClr val="000000">
                <a:alpha val="50624"/>
              </a:srgbClr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97" name="modeler.png" descr="model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837" y="3499372"/>
            <a:ext cx="5930224" cy="374757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10927"/>
              </a:srgbClr>
            </a:outerShdw>
          </a:effectLst>
        </p:spPr>
      </p:pic>
      <p:pic>
        <p:nvPicPr>
          <p:cNvPr id="198" name="WM.png" descr="W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58693" y="5770725"/>
            <a:ext cx="6185178" cy="390868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207" name="Connection Line"/>
          <p:cNvSpPr/>
          <p:nvPr/>
        </p:nvSpPr>
        <p:spPr>
          <a:xfrm>
            <a:off x="6909469" y="4408137"/>
            <a:ext cx="1280585" cy="1280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19" h="20419" fill="norm" stroke="1" extrusionOk="0">
                <a:moveTo>
                  <a:pt x="0" y="169"/>
                </a:moveTo>
                <a:cubicBezTo>
                  <a:pt x="14850" y="-1181"/>
                  <a:pt x="21600" y="5569"/>
                  <a:pt x="20250" y="20419"/>
                </a:cubicBezTo>
              </a:path>
            </a:pathLst>
          </a:custGeom>
          <a:ln w="114300">
            <a:solidFill>
              <a:srgbClr val="C0C0C0">
                <a:alpha val="51857"/>
              </a:srgbClr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00" name="R3S Modeler"/>
          <p:cNvSpPr txBox="1"/>
          <p:nvPr/>
        </p:nvSpPr>
        <p:spPr>
          <a:xfrm>
            <a:off x="1029361" y="7456285"/>
            <a:ext cx="189250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2337BE"/>
                </a:solidFill>
              </a:defRPr>
            </a:lvl1pPr>
          </a:lstStyle>
          <a:p>
            <a:pPr/>
            <a:r>
              <a:t>R3S Modeler</a:t>
            </a:r>
          </a:p>
        </p:txBody>
      </p:sp>
      <p:sp>
        <p:nvSpPr>
          <p:cNvPr id="201" name="R3S Dashboard"/>
          <p:cNvSpPr txBox="1"/>
          <p:nvPr/>
        </p:nvSpPr>
        <p:spPr>
          <a:xfrm>
            <a:off x="8545786" y="12792281"/>
            <a:ext cx="227106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2337BE"/>
                </a:solidFill>
              </a:defRPr>
            </a:lvl1pPr>
          </a:lstStyle>
          <a:p>
            <a:pPr/>
            <a:r>
              <a:t>R3S Dashboard</a:t>
            </a:r>
          </a:p>
        </p:txBody>
      </p:sp>
      <p:grpSp>
        <p:nvGrpSpPr>
          <p:cNvPr id="204" name="Group"/>
          <p:cNvGrpSpPr/>
          <p:nvPr/>
        </p:nvGrpSpPr>
        <p:grpSpPr>
          <a:xfrm>
            <a:off x="4493769" y="9824297"/>
            <a:ext cx="3681646" cy="625325"/>
            <a:chOff x="0" y="0"/>
            <a:chExt cx="3681645" cy="625324"/>
          </a:xfrm>
        </p:grpSpPr>
        <p:sp>
          <p:nvSpPr>
            <p:cNvPr id="202" name="Rectangle"/>
            <p:cNvSpPr/>
            <p:nvPr/>
          </p:nvSpPr>
          <p:spPr>
            <a:xfrm>
              <a:off x="0" y="0"/>
              <a:ext cx="3681646" cy="625325"/>
            </a:xfrm>
            <a:prstGeom prst="rect">
              <a:avLst/>
            </a:prstGeom>
            <a:solidFill>
              <a:srgbClr val="FFFFFF">
                <a:alpha val="8692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03" name="R3S Workflow Manager"/>
            <p:cNvSpPr txBox="1"/>
            <p:nvPr/>
          </p:nvSpPr>
          <p:spPr>
            <a:xfrm>
              <a:off x="178138" y="81979"/>
              <a:ext cx="33253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2337BE"/>
                  </a:solidFill>
                </a:defRPr>
              </a:lvl1pPr>
            </a:lstStyle>
            <a:p>
              <a:pPr/>
              <a:r>
                <a:t>R3S Workflow Manager</a:t>
              </a:r>
            </a:p>
          </p:txBody>
        </p:sp>
      </p:grpSp>
      <p:pic>
        <p:nvPicPr>
          <p:cNvPr id="205" name="dashboard.png" descr="dashboar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45786" y="8816427"/>
            <a:ext cx="6009660" cy="374769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10927"/>
              </a:srgbClr>
            </a:outerShdw>
          </a:effectLst>
        </p:spPr>
      </p:pic>
      <p:sp>
        <p:nvSpPr>
          <p:cNvPr id="208" name="Connection Line"/>
          <p:cNvSpPr/>
          <p:nvPr/>
        </p:nvSpPr>
        <p:spPr>
          <a:xfrm>
            <a:off x="10770704" y="7493748"/>
            <a:ext cx="1280585" cy="128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19" h="20419" fill="norm" stroke="1" extrusionOk="0">
                <a:moveTo>
                  <a:pt x="0" y="169"/>
                </a:moveTo>
                <a:cubicBezTo>
                  <a:pt x="14850" y="-1181"/>
                  <a:pt x="21600" y="5569"/>
                  <a:pt x="20250" y="20419"/>
                </a:cubicBezTo>
              </a:path>
            </a:pathLst>
          </a:custGeom>
          <a:ln w="114300">
            <a:solidFill>
              <a:srgbClr val="C0C0C0">
                <a:alpha val="51857"/>
              </a:srgbClr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"/>
          <p:cNvSpPr/>
          <p:nvPr/>
        </p:nvSpPr>
        <p:spPr>
          <a:xfrm>
            <a:off x="13970000" y="3714152"/>
            <a:ext cx="3340214" cy="370666"/>
          </a:xfrm>
          <a:prstGeom prst="rect">
            <a:avLst/>
          </a:prstGeom>
          <a:solidFill>
            <a:schemeClr val="accent6">
              <a:lumOff val="16165"/>
              <a:alpha val="3865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1" name="Project. 1"/>
          <p:cNvSpPr txBox="1"/>
          <p:nvPr>
            <p:ph type="title"/>
          </p:nvPr>
        </p:nvSpPr>
        <p:spPr>
          <a:xfrm>
            <a:off x="356034" y="-354281"/>
            <a:ext cx="5130860" cy="1433164"/>
          </a:xfrm>
          <a:prstGeom prst="rect">
            <a:avLst/>
          </a:prstGeom>
        </p:spPr>
        <p:txBody>
          <a:bodyPr/>
          <a:lstStyle>
            <a:lvl1pPr defTabSz="2316421">
              <a:defRPr spc="-262" sz="8740">
                <a:solidFill>
                  <a:srgbClr val="D5D5D5"/>
                </a:solidFill>
              </a:defRPr>
            </a:lvl1pPr>
          </a:lstStyle>
          <a:p>
            <a:pPr/>
            <a:r>
              <a:t>Project. 1</a:t>
            </a:r>
          </a:p>
        </p:txBody>
      </p:sp>
      <p:sp>
        <p:nvSpPr>
          <p:cNvPr id="212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3" name="UI 및 페이지 UX 개선"/>
          <p:cNvSpPr txBox="1"/>
          <p:nvPr/>
        </p:nvSpPr>
        <p:spPr>
          <a:xfrm>
            <a:off x="1060891" y="1257807"/>
            <a:ext cx="6778753" cy="108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UI 및 페이지 UX 개선</a:t>
            </a:r>
          </a:p>
        </p:txBody>
      </p:sp>
      <p:sp>
        <p:nvSpPr>
          <p:cNvPr id="214" name="복잡한 화면 구조를 정리하여 사용자가 기능을 더 쉽게 이해하고 사용할 수 있도록 개선"/>
          <p:cNvSpPr txBox="1"/>
          <p:nvPr/>
        </p:nvSpPr>
        <p:spPr>
          <a:xfrm>
            <a:off x="1060891" y="2494029"/>
            <a:ext cx="1167059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pc="-84"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복잡한 화면 구조를 정리하여 사용자가 기능을 더 쉽게 이해하고 사용할 수 있도록 개선</a:t>
            </a:r>
          </a:p>
        </p:txBody>
      </p:sp>
      <p:pic>
        <p:nvPicPr>
          <p:cNvPr id="215" name="Past_design.png" descr="Past_desig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2463" y="5117195"/>
            <a:ext cx="9594734" cy="6658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Current_design0.png" descr="Current_design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85923" y="5117195"/>
            <a:ext cx="9594735" cy="6658747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Before"/>
          <p:cNvSpPr txBox="1"/>
          <p:nvPr/>
        </p:nvSpPr>
        <p:spPr>
          <a:xfrm>
            <a:off x="6293079" y="12186011"/>
            <a:ext cx="13335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3200">
                <a:solidFill>
                  <a:srgbClr val="929292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Before</a:t>
            </a:r>
          </a:p>
        </p:txBody>
      </p:sp>
      <p:sp>
        <p:nvSpPr>
          <p:cNvPr id="218" name="After"/>
          <p:cNvSpPr txBox="1"/>
          <p:nvPr/>
        </p:nvSpPr>
        <p:spPr>
          <a:xfrm>
            <a:off x="16633216" y="12186011"/>
            <a:ext cx="10413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3200">
                <a:solidFill>
                  <a:srgbClr val="929292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After</a:t>
            </a:r>
          </a:p>
        </p:txBody>
      </p:sp>
      <p:sp>
        <p:nvSpPr>
          <p:cNvPr id="219" name="Rounded Rectangle"/>
          <p:cNvSpPr/>
          <p:nvPr/>
        </p:nvSpPr>
        <p:spPr>
          <a:xfrm>
            <a:off x="12152301" y="5753299"/>
            <a:ext cx="1939654" cy="6103457"/>
          </a:xfrm>
          <a:prstGeom prst="roundRect">
            <a:avLst>
              <a:gd name="adj" fmla="val 8372"/>
            </a:avLst>
          </a:prstGeom>
          <a:ln w="114300">
            <a:solidFill>
              <a:srgbClr val="FF40FF">
                <a:alpha val="69795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22" name="Group"/>
          <p:cNvGrpSpPr/>
          <p:nvPr/>
        </p:nvGrpSpPr>
        <p:grpSpPr>
          <a:xfrm>
            <a:off x="13679566" y="3708840"/>
            <a:ext cx="130560" cy="2065711"/>
            <a:chOff x="0" y="0"/>
            <a:chExt cx="130559" cy="2065709"/>
          </a:xfrm>
        </p:grpSpPr>
        <p:sp>
          <p:nvSpPr>
            <p:cNvPr id="220" name="Line"/>
            <p:cNvSpPr/>
            <p:nvPr/>
          </p:nvSpPr>
          <p:spPr>
            <a:xfrm flipV="1">
              <a:off x="65279" y="84743"/>
              <a:ext cx="1" cy="1980967"/>
            </a:xfrm>
            <a:prstGeom prst="line">
              <a:avLst/>
            </a:prstGeom>
            <a:noFill/>
            <a:ln w="25400" cap="flat">
              <a:solidFill>
                <a:srgbClr val="EB52F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21" name="Circle"/>
            <p:cNvSpPr/>
            <p:nvPr/>
          </p:nvSpPr>
          <p:spPr>
            <a:xfrm>
              <a:off x="0" y="0"/>
              <a:ext cx="130560" cy="130560"/>
            </a:xfrm>
            <a:prstGeom prst="ellipse">
              <a:avLst/>
            </a:prstGeom>
            <a:solidFill>
              <a:srgbClr val="EB52F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23" name="좌측 네비게이션 기반 구조화"/>
          <p:cNvSpPr txBox="1"/>
          <p:nvPr/>
        </p:nvSpPr>
        <p:spPr>
          <a:xfrm>
            <a:off x="13993729" y="3549052"/>
            <a:ext cx="329275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22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좌측 네비게이션 기반 구조화</a:t>
            </a:r>
          </a:p>
        </p:txBody>
      </p:sp>
      <p:sp>
        <p:nvSpPr>
          <p:cNvPr id="224" name="Rounded Rectangle"/>
          <p:cNvSpPr/>
          <p:nvPr/>
        </p:nvSpPr>
        <p:spPr>
          <a:xfrm>
            <a:off x="14355224" y="6939964"/>
            <a:ext cx="7511228" cy="4916356"/>
          </a:xfrm>
          <a:prstGeom prst="roundRect">
            <a:avLst>
              <a:gd name="adj" fmla="val 3303"/>
            </a:avLst>
          </a:prstGeom>
          <a:ln w="114300">
            <a:solidFill>
              <a:srgbClr val="FF40FF">
                <a:alpha val="64101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27" name="Group"/>
          <p:cNvGrpSpPr/>
          <p:nvPr/>
        </p:nvGrpSpPr>
        <p:grpSpPr>
          <a:xfrm>
            <a:off x="18045558" y="4276375"/>
            <a:ext cx="130560" cy="2691069"/>
            <a:chOff x="0" y="0"/>
            <a:chExt cx="130559" cy="2691067"/>
          </a:xfrm>
        </p:grpSpPr>
        <p:sp>
          <p:nvSpPr>
            <p:cNvPr id="225" name="Line"/>
            <p:cNvSpPr/>
            <p:nvPr/>
          </p:nvSpPr>
          <p:spPr>
            <a:xfrm flipV="1">
              <a:off x="65279" y="84743"/>
              <a:ext cx="1" cy="2606325"/>
            </a:xfrm>
            <a:prstGeom prst="line">
              <a:avLst/>
            </a:prstGeom>
            <a:noFill/>
            <a:ln w="25400" cap="flat">
              <a:solidFill>
                <a:srgbClr val="EB52F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26" name="Circle"/>
            <p:cNvSpPr/>
            <p:nvPr/>
          </p:nvSpPr>
          <p:spPr>
            <a:xfrm>
              <a:off x="0" y="0"/>
              <a:ext cx="130560" cy="130560"/>
            </a:xfrm>
            <a:prstGeom prst="ellipse">
              <a:avLst/>
            </a:prstGeom>
            <a:solidFill>
              <a:srgbClr val="EB52F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231" name="Group"/>
          <p:cNvGrpSpPr/>
          <p:nvPr/>
        </p:nvGrpSpPr>
        <p:grpSpPr>
          <a:xfrm>
            <a:off x="18282899" y="3085289"/>
            <a:ext cx="3988796" cy="1178311"/>
            <a:chOff x="0" y="0"/>
            <a:chExt cx="3988795" cy="1178309"/>
          </a:xfrm>
        </p:grpSpPr>
        <p:sp>
          <p:nvSpPr>
            <p:cNvPr id="228" name="Rectangle"/>
            <p:cNvSpPr/>
            <p:nvPr/>
          </p:nvSpPr>
          <p:spPr>
            <a:xfrm>
              <a:off x="0" y="952013"/>
              <a:ext cx="2607432" cy="226297"/>
            </a:xfrm>
            <a:prstGeom prst="rect">
              <a:avLst/>
            </a:prstGeom>
            <a:solidFill>
              <a:schemeClr val="accent6">
                <a:lumOff val="16165"/>
                <a:alpha val="42695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29" name="Rectangle"/>
            <p:cNvSpPr/>
            <p:nvPr/>
          </p:nvSpPr>
          <p:spPr>
            <a:xfrm>
              <a:off x="0" y="0"/>
              <a:ext cx="3988796" cy="226297"/>
            </a:xfrm>
            <a:prstGeom prst="rect">
              <a:avLst/>
            </a:prstGeom>
            <a:solidFill>
              <a:schemeClr val="accent6">
                <a:lumOff val="16165"/>
                <a:alpha val="43146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30" name="Rectangle"/>
            <p:cNvSpPr/>
            <p:nvPr/>
          </p:nvSpPr>
          <p:spPr>
            <a:xfrm>
              <a:off x="0" y="471844"/>
              <a:ext cx="3988796" cy="234622"/>
            </a:xfrm>
            <a:prstGeom prst="rect">
              <a:avLst/>
            </a:prstGeom>
            <a:solidFill>
              <a:schemeClr val="accent6">
                <a:lumOff val="16165"/>
                <a:alpha val="3645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32" name="작업 단위(Task) 중심 메뉴로 구성…"/>
          <p:cNvSpPr txBox="1"/>
          <p:nvPr/>
        </p:nvSpPr>
        <p:spPr>
          <a:xfrm>
            <a:off x="18045582" y="2876375"/>
            <a:ext cx="3988796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599" indent="-228599" algn="l" defTabSz="457200">
              <a:spcBef>
                <a:spcPts val="1300"/>
              </a:spcBef>
              <a:buSzPct val="100000"/>
              <a:buChar char="-"/>
              <a:defRPr sz="21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작업 단위(Task) 중심 메뉴로 구성</a:t>
            </a:r>
          </a:p>
          <a:p>
            <a:pPr marL="228599" indent="-228599" algn="l" defTabSz="457200">
              <a:spcBef>
                <a:spcPts val="1300"/>
              </a:spcBef>
              <a:buSzPct val="100000"/>
              <a:buChar char="-"/>
              <a:defRPr sz="21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입력 / 설정 / 실행 흐름이 명확화</a:t>
            </a:r>
          </a:p>
          <a:p>
            <a:pPr marL="228599" indent="-228599" algn="l" defTabSz="457200">
              <a:spcBef>
                <a:spcPts val="1300"/>
              </a:spcBef>
              <a:buSzPct val="100000"/>
              <a:buChar char="-"/>
              <a:defRPr sz="21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화면 내 정보 그룹화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roject 1 ."/>
          <p:cNvSpPr txBox="1"/>
          <p:nvPr>
            <p:ph type="title"/>
          </p:nvPr>
        </p:nvSpPr>
        <p:spPr>
          <a:xfrm>
            <a:off x="1075498" y="468363"/>
            <a:ext cx="5130860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pPr/>
            <a:r>
              <a:t>Project 1 .</a:t>
            </a:r>
          </a:p>
        </p:txBody>
      </p:sp>
      <p:sp>
        <p:nvSpPr>
          <p:cNvPr id="243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4" name="R3S Workflow Manager"/>
          <p:cNvSpPr txBox="1"/>
          <p:nvPr/>
        </p:nvSpPr>
        <p:spPr>
          <a:xfrm>
            <a:off x="1117257" y="2001361"/>
            <a:ext cx="865022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R3S Workflow Manager</a:t>
            </a:r>
          </a:p>
        </p:txBody>
      </p:sp>
      <p:sp>
        <p:nvSpPr>
          <p:cNvPr id="245" name="Overview"/>
          <p:cNvSpPr txBox="1"/>
          <p:nvPr/>
        </p:nvSpPr>
        <p:spPr>
          <a:xfrm>
            <a:off x="15527731" y="778824"/>
            <a:ext cx="4409029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>
              <a:defRPr>
                <a:solidFill>
                  <a:srgbClr val="2337BE"/>
                </a:solidFill>
              </a:defRPr>
            </a:pPr>
            <a:r>
              <a:rPr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246" name="R3S Modeler 실행을 관리하고, 계리 업무 프로세스를 통합하는 웹 기반 플랫폼으로 R3S Modeler의 모델 실행을 효율적으로  관리하고, 계리 업무 전반을 하나의 워크플로우로 통합하기 위해 설계된 플랫폼입니다."/>
          <p:cNvSpPr txBox="1"/>
          <p:nvPr/>
        </p:nvSpPr>
        <p:spPr>
          <a:xfrm>
            <a:off x="15518984" y="1862429"/>
            <a:ext cx="8062214" cy="165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spcBef>
                <a:spcPts val="1200"/>
              </a:spcBef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R3S Modeler 실행을 관리하고, 계리 업무 프로세스를 통합하는 웹 기반 플랫폼으로 R3S Modeler의 모델 실행을 효율적으로 </a:t>
            </a:r>
            <a:br/>
            <a:r>
              <a:t>관리하고, 계리 업무 전반을 하나의 워크플로우로 통합하기 위해 설계된 플랫폼입니다.</a:t>
            </a:r>
          </a:p>
        </p:txBody>
      </p:sp>
      <p:sp>
        <p:nvSpPr>
          <p:cNvPr id="247" name="Rectangle"/>
          <p:cNvSpPr/>
          <p:nvPr/>
        </p:nvSpPr>
        <p:spPr>
          <a:xfrm>
            <a:off x="15065613" y="778824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48" name="WM_main0.png" descr="WM_main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8113" y="3899258"/>
            <a:ext cx="13346724" cy="8899597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Background"/>
          <p:cNvSpPr txBox="1"/>
          <p:nvPr/>
        </p:nvSpPr>
        <p:spPr>
          <a:xfrm>
            <a:off x="15610609" y="3993497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250" name="Rectangle"/>
          <p:cNvSpPr/>
          <p:nvPr/>
        </p:nvSpPr>
        <p:spPr>
          <a:xfrm>
            <a:off x="15148492" y="3993497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1" name="R3S Modeler는 계리 현금흐름(Cashflow)을 생성하는 전문  소프트웨어로, 실제 업무에서는 모델 실행, 결과 관리, 리포팅,  검증 등 여러 단계가 분산되어 수행되고 있었습니다."/>
          <p:cNvSpPr txBox="1"/>
          <p:nvPr/>
        </p:nvSpPr>
        <p:spPr>
          <a:xfrm>
            <a:off x="15518984" y="4961625"/>
            <a:ext cx="8250832" cy="1226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R3S Modeler는 계리 현금흐름(Cashflow)을 생성하는 전문 </a:t>
            </a:r>
            <a:br/>
            <a:r>
              <a:t>소프트웨어로, 실제 업무에서는 모델 실행, 결과 관리, 리포팅, </a:t>
            </a:r>
            <a:br/>
            <a:r>
              <a:t>검증 등 여러 단계가 분산되어 수행되고 있었습니다.</a:t>
            </a:r>
          </a:p>
        </p:txBody>
      </p:sp>
      <p:sp>
        <p:nvSpPr>
          <p:cNvPr id="252" name="Problem"/>
          <p:cNvSpPr txBox="1"/>
          <p:nvPr/>
        </p:nvSpPr>
        <p:spPr>
          <a:xfrm>
            <a:off x="15610609" y="6725440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53" name="Rectangle"/>
          <p:cNvSpPr/>
          <p:nvPr/>
        </p:nvSpPr>
        <p:spPr>
          <a:xfrm>
            <a:off x="15148492" y="6725440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기존 업무 환경은 기능 단위로 분절되어 있어, 사용자가 전체 계리 프로세스를 하나의 흐름으로 이해하고 관리하기 어려웠습니다.…"/>
          <p:cNvSpPr txBox="1"/>
          <p:nvPr/>
        </p:nvSpPr>
        <p:spPr>
          <a:xfrm>
            <a:off x="15518984" y="7693568"/>
            <a:ext cx="8250832" cy="1876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기존 업무 환경은 기능 단위로 분절되어 있어, 사용자가 전체 계리</a:t>
            </a:r>
            <a:br/>
            <a:r>
              <a:t>프로세스를 하나의 흐름으로 이해하고 관리하기 어려웠습니다.</a:t>
            </a:r>
          </a:p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이로 인해 작업 간 전환 비용이 높고, 업무 효율이 저하되는 문제가 있었습니다.</a:t>
            </a:r>
          </a:p>
        </p:txBody>
      </p:sp>
      <p:sp>
        <p:nvSpPr>
          <p:cNvPr id="255" name="계리 모델 실행과 업무 흐름을 통합하는 Workflow 플랫폼"/>
          <p:cNvSpPr txBox="1"/>
          <p:nvPr/>
        </p:nvSpPr>
        <p:spPr>
          <a:xfrm>
            <a:off x="1240414" y="3315072"/>
            <a:ext cx="3876977" cy="289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계리 모델 실행과 업무 흐름을 통합하는 Workflow 플랫폼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roject. 1"/>
          <p:cNvSpPr txBox="1"/>
          <p:nvPr>
            <p:ph type="title"/>
          </p:nvPr>
        </p:nvSpPr>
        <p:spPr>
          <a:xfrm>
            <a:off x="356034" y="-328881"/>
            <a:ext cx="5130860" cy="1433164"/>
          </a:xfrm>
          <a:prstGeom prst="rect">
            <a:avLst/>
          </a:prstGeom>
        </p:spPr>
        <p:txBody>
          <a:bodyPr/>
          <a:lstStyle>
            <a:lvl1pPr defTabSz="2316421">
              <a:defRPr spc="-262" sz="8740">
                <a:solidFill>
                  <a:srgbClr val="D5D5D5"/>
                </a:solidFill>
              </a:defRPr>
            </a:lvl1pPr>
          </a:lstStyle>
          <a:p>
            <a:pPr/>
            <a:r>
              <a:t>Project. 1</a:t>
            </a:r>
          </a:p>
        </p:txBody>
      </p:sp>
      <p:sp>
        <p:nvSpPr>
          <p:cNvPr id="258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9" name="R3S Workflow Manager"/>
          <p:cNvSpPr txBox="1"/>
          <p:nvPr/>
        </p:nvSpPr>
        <p:spPr>
          <a:xfrm>
            <a:off x="1060891" y="1340232"/>
            <a:ext cx="865022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R3S Workflow Manager</a:t>
            </a:r>
          </a:p>
        </p:txBody>
      </p:sp>
      <p:sp>
        <p:nvSpPr>
          <p:cNvPr id="260" name="Background"/>
          <p:cNvSpPr txBox="1"/>
          <p:nvPr/>
        </p:nvSpPr>
        <p:spPr>
          <a:xfrm>
            <a:off x="15610610" y="1144418"/>
            <a:ext cx="4409029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261" name="Rectangle"/>
          <p:cNvSpPr/>
          <p:nvPr/>
        </p:nvSpPr>
        <p:spPr>
          <a:xfrm>
            <a:off x="15148492" y="1144418"/>
            <a:ext cx="192133" cy="625325"/>
          </a:xfrm>
          <a:prstGeom prst="rect">
            <a:avLst/>
          </a:prstGeom>
          <a:solidFill>
            <a:srgbClr val="2337BE">
              <a:alpha val="5133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2" name="R3S Modeler는 계리 현금흐름을 생성하는 전문 소프트웨어로,…"/>
          <p:cNvSpPr txBox="1"/>
          <p:nvPr/>
        </p:nvSpPr>
        <p:spPr>
          <a:xfrm>
            <a:off x="15518984" y="2112546"/>
            <a:ext cx="8250832" cy="1226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R3S Modeler는 계리 현금흐름을 생성하는 전문 소프트웨어로,</a:t>
            </a:r>
          </a:p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실제 업무에서는 모델 실행, 결과 확인, 리포팅 등의 과정이 분산되어 수행되고 있었습니다.</a:t>
            </a:r>
          </a:p>
        </p:txBody>
      </p:sp>
      <p:sp>
        <p:nvSpPr>
          <p:cNvPr id="263" name="Problem"/>
          <p:cNvSpPr txBox="1"/>
          <p:nvPr/>
        </p:nvSpPr>
        <p:spPr>
          <a:xfrm>
            <a:off x="15610609" y="4011151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64" name="Rectangle"/>
          <p:cNvSpPr/>
          <p:nvPr/>
        </p:nvSpPr>
        <p:spPr>
          <a:xfrm>
            <a:off x="15148492" y="4011151"/>
            <a:ext cx="192133" cy="625325"/>
          </a:xfrm>
          <a:prstGeom prst="rect">
            <a:avLst/>
          </a:prstGeom>
          <a:solidFill>
            <a:srgbClr val="2337BE">
              <a:alpha val="5089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기능 중심으로 분절된 구조로 인해 사용자가 전체 계리 업무 흐름을 하나의 프로세스로 이해하기 어려웠으며, 작업 간 전환 비용이 높고 비효율이 발생했습니다."/>
          <p:cNvSpPr txBox="1"/>
          <p:nvPr/>
        </p:nvSpPr>
        <p:spPr>
          <a:xfrm>
            <a:off x="15518984" y="4979279"/>
            <a:ext cx="8250832" cy="131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기능 중심으로 분절된 구조로 인해 사용자가 전체 계리 업무 흐름을 하나의 프로세스로 이해하기 어려웠으며, 작업 간 전환 비용이 높고 비효율이 발생했습니다.</a:t>
            </a:r>
          </a:p>
        </p:txBody>
      </p:sp>
      <p:sp>
        <p:nvSpPr>
          <p:cNvPr id="266" name="계리 모델 실행과 업무 흐름을 통합/관리하는  웹기반 Workflow 플랫폼"/>
          <p:cNvSpPr txBox="1"/>
          <p:nvPr/>
        </p:nvSpPr>
        <p:spPr>
          <a:xfrm>
            <a:off x="1060891" y="2544829"/>
            <a:ext cx="10147555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lvl1pPr>
          </a:lstStyle>
          <a:p>
            <a:pPr/>
            <a:r>
              <a:t>계리 모델 실행과 업무 흐름을 통합/관리하는  웹기반 Workflow 플랫폼</a:t>
            </a:r>
          </a:p>
        </p:txBody>
      </p:sp>
      <p:sp>
        <p:nvSpPr>
          <p:cNvPr id="267" name="My Role"/>
          <p:cNvSpPr txBox="1"/>
          <p:nvPr/>
        </p:nvSpPr>
        <p:spPr>
          <a:xfrm>
            <a:off x="15610609" y="7620193"/>
            <a:ext cx="4409030" cy="751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My Role</a:t>
            </a:r>
          </a:p>
        </p:txBody>
      </p:sp>
      <p:sp>
        <p:nvSpPr>
          <p:cNvPr id="268" name="Rectangle"/>
          <p:cNvSpPr/>
          <p:nvPr/>
        </p:nvSpPr>
        <p:spPr>
          <a:xfrm>
            <a:off x="15148492" y="7620193"/>
            <a:ext cx="192133" cy="625325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9" name="UI 중심으로 참여하여, Wireframe, Prototype, Design System 구축 및 페이지 단위 UX 개선을 담당했습니다.…"/>
          <p:cNvSpPr txBox="1"/>
          <p:nvPr/>
        </p:nvSpPr>
        <p:spPr>
          <a:xfrm>
            <a:off x="15518984" y="8588321"/>
            <a:ext cx="8250832" cy="4405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UI 중심으로 참여하여, Wireframe, Prototype, Design System 구축 및 페이지 단위 UX 개선을 담당했습니다.</a:t>
            </a:r>
          </a:p>
          <a:p>
            <a:pPr algn="l" defTabSz="457200">
              <a:defRPr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UI 설계 및 화면 구성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페이지 내 사용자 흐름 개선 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Design System 구축 및 확장</a:t>
            </a:r>
          </a:p>
          <a:p>
            <a:pPr marL="431800" indent="-431800" algn="l" defTabSz="457200">
              <a:spcBef>
                <a:spcPts val="1600"/>
              </a:spcBef>
              <a:buClr>
                <a:srgbClr val="2337BE">
                  <a:alpha val="52106"/>
                </a:srgbClr>
              </a:buClr>
              <a:buSzPct val="123000"/>
              <a:buChar char="➡"/>
              <a:defRPr sz="26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지속적인 UI/UX 개선</a:t>
            </a:r>
          </a:p>
        </p:txBody>
      </p:sp>
      <p:sp>
        <p:nvSpPr>
          <p:cNvPr id="270" name="Line"/>
          <p:cNvSpPr/>
          <p:nvPr/>
        </p:nvSpPr>
        <p:spPr>
          <a:xfrm>
            <a:off x="15037920" y="6857999"/>
            <a:ext cx="8650225" cy="1"/>
          </a:xfrm>
          <a:prstGeom prst="line">
            <a:avLst/>
          </a:prstGeom>
          <a:ln w="38100" cap="rnd">
            <a:solidFill>
              <a:srgbClr val="000000">
                <a:alpha val="50624"/>
              </a:srgbClr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71" name="modeler.png" descr="modeler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029332" y="3681516"/>
            <a:ext cx="5930225" cy="374757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10927"/>
              </a:srgbClr>
            </a:outerShdw>
          </a:effectLst>
        </p:spPr>
      </p:pic>
      <p:pic>
        <p:nvPicPr>
          <p:cNvPr id="272" name="WM.png" descr="W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55188" y="5952869"/>
            <a:ext cx="6185178" cy="390868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281" name="Connection Line"/>
          <p:cNvSpPr/>
          <p:nvPr/>
        </p:nvSpPr>
        <p:spPr>
          <a:xfrm>
            <a:off x="6905965" y="4590281"/>
            <a:ext cx="1280584" cy="128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19" h="20419" fill="norm" stroke="1" extrusionOk="0">
                <a:moveTo>
                  <a:pt x="0" y="169"/>
                </a:moveTo>
                <a:cubicBezTo>
                  <a:pt x="14850" y="-1181"/>
                  <a:pt x="21600" y="5569"/>
                  <a:pt x="20250" y="20419"/>
                </a:cubicBezTo>
              </a:path>
            </a:pathLst>
          </a:custGeom>
          <a:ln w="114300">
            <a:solidFill>
              <a:srgbClr val="C0C0C0">
                <a:alpha val="51857"/>
              </a:srgbClr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74" name="R3S Modeler"/>
          <p:cNvSpPr txBox="1"/>
          <p:nvPr/>
        </p:nvSpPr>
        <p:spPr>
          <a:xfrm>
            <a:off x="1025856" y="7638430"/>
            <a:ext cx="189250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2337BE"/>
                </a:solidFill>
              </a:defRPr>
            </a:lvl1pPr>
          </a:lstStyle>
          <a:p>
            <a:pPr/>
            <a:r>
              <a:t>R3S Modeler</a:t>
            </a:r>
          </a:p>
        </p:txBody>
      </p:sp>
      <p:sp>
        <p:nvSpPr>
          <p:cNvPr id="275" name="R3S Dashboard"/>
          <p:cNvSpPr txBox="1"/>
          <p:nvPr/>
        </p:nvSpPr>
        <p:spPr>
          <a:xfrm>
            <a:off x="8542281" y="12974426"/>
            <a:ext cx="227106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2337BE"/>
                </a:solidFill>
              </a:defRPr>
            </a:lvl1pPr>
          </a:lstStyle>
          <a:p>
            <a:pPr/>
            <a:r>
              <a:t>R3S Dashboard</a:t>
            </a:r>
          </a:p>
        </p:txBody>
      </p:sp>
      <p:grpSp>
        <p:nvGrpSpPr>
          <p:cNvPr id="278" name="Group"/>
          <p:cNvGrpSpPr/>
          <p:nvPr/>
        </p:nvGrpSpPr>
        <p:grpSpPr>
          <a:xfrm>
            <a:off x="4490264" y="10006442"/>
            <a:ext cx="3681646" cy="625325"/>
            <a:chOff x="0" y="0"/>
            <a:chExt cx="3681645" cy="625324"/>
          </a:xfrm>
        </p:grpSpPr>
        <p:sp>
          <p:nvSpPr>
            <p:cNvPr id="276" name="Rectangle"/>
            <p:cNvSpPr/>
            <p:nvPr/>
          </p:nvSpPr>
          <p:spPr>
            <a:xfrm>
              <a:off x="0" y="0"/>
              <a:ext cx="3681646" cy="625325"/>
            </a:xfrm>
            <a:prstGeom prst="rect">
              <a:avLst/>
            </a:prstGeom>
            <a:solidFill>
              <a:srgbClr val="FFFFFF">
                <a:alpha val="8692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7" name="R3S Workflow Manager"/>
            <p:cNvSpPr txBox="1"/>
            <p:nvPr/>
          </p:nvSpPr>
          <p:spPr>
            <a:xfrm>
              <a:off x="178138" y="81979"/>
              <a:ext cx="33253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2337BE"/>
                  </a:solidFill>
                </a:defRPr>
              </a:lvl1pPr>
            </a:lstStyle>
            <a:p>
              <a:pPr/>
              <a:r>
                <a:t>R3S Workflow Manager</a:t>
              </a:r>
            </a:p>
          </p:txBody>
        </p:sp>
      </p:grpSp>
      <p:pic>
        <p:nvPicPr>
          <p:cNvPr id="279" name="dashboard.png" descr="dashboar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42281" y="8998571"/>
            <a:ext cx="6009661" cy="374769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10927"/>
              </a:srgbClr>
            </a:outerShdw>
          </a:effectLst>
        </p:spPr>
      </p:pic>
      <p:sp>
        <p:nvSpPr>
          <p:cNvPr id="282" name="Connection Line"/>
          <p:cNvSpPr/>
          <p:nvPr/>
        </p:nvSpPr>
        <p:spPr>
          <a:xfrm>
            <a:off x="10767200" y="7675892"/>
            <a:ext cx="1280584" cy="128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19" h="20419" fill="norm" stroke="1" extrusionOk="0">
                <a:moveTo>
                  <a:pt x="0" y="169"/>
                </a:moveTo>
                <a:cubicBezTo>
                  <a:pt x="14850" y="-1181"/>
                  <a:pt x="21600" y="5569"/>
                  <a:pt x="20250" y="20419"/>
                </a:cubicBezTo>
              </a:path>
            </a:pathLst>
          </a:custGeom>
          <a:ln w="114300">
            <a:solidFill>
              <a:srgbClr val="C0C0C0">
                <a:alpha val="51857"/>
              </a:srgbClr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"/>
          <p:cNvGrpSpPr/>
          <p:nvPr/>
        </p:nvGrpSpPr>
        <p:grpSpPr>
          <a:xfrm>
            <a:off x="1064426" y="10318688"/>
            <a:ext cx="7332034" cy="2684967"/>
            <a:chOff x="0" y="0"/>
            <a:chExt cx="7332033" cy="2684965"/>
          </a:xfrm>
        </p:grpSpPr>
        <p:grpSp>
          <p:nvGrpSpPr>
            <p:cNvPr id="286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284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285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287" name="Rounded Rectangle"/>
            <p:cNvSpPr/>
            <p:nvPr/>
          </p:nvSpPr>
          <p:spPr>
            <a:xfrm>
              <a:off x="0" y="0"/>
              <a:ext cx="7332034" cy="2684966"/>
            </a:xfrm>
            <a:prstGeom prst="roundRect">
              <a:avLst>
                <a:gd name="adj" fmla="val 19781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293" name="Group"/>
          <p:cNvGrpSpPr/>
          <p:nvPr/>
        </p:nvGrpSpPr>
        <p:grpSpPr>
          <a:xfrm>
            <a:off x="980929" y="6131300"/>
            <a:ext cx="7332034" cy="3321224"/>
            <a:chOff x="0" y="0"/>
            <a:chExt cx="7332033" cy="3321222"/>
          </a:xfrm>
        </p:grpSpPr>
        <p:grpSp>
          <p:nvGrpSpPr>
            <p:cNvPr id="291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289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290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292" name="Rounded Rectangle"/>
            <p:cNvSpPr/>
            <p:nvPr/>
          </p:nvSpPr>
          <p:spPr>
            <a:xfrm>
              <a:off x="0" y="0"/>
              <a:ext cx="7332034" cy="3321223"/>
            </a:xfrm>
            <a:prstGeom prst="roundRect">
              <a:avLst>
                <a:gd name="adj" fmla="val 15992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298" name="Group"/>
          <p:cNvGrpSpPr/>
          <p:nvPr/>
        </p:nvGrpSpPr>
        <p:grpSpPr>
          <a:xfrm>
            <a:off x="1012850" y="2647745"/>
            <a:ext cx="7332034" cy="2617391"/>
            <a:chOff x="0" y="0"/>
            <a:chExt cx="7332033" cy="2617390"/>
          </a:xfrm>
        </p:grpSpPr>
        <p:grpSp>
          <p:nvGrpSpPr>
            <p:cNvPr id="296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294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295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297" name="Rounded Rectangle"/>
            <p:cNvSpPr/>
            <p:nvPr/>
          </p:nvSpPr>
          <p:spPr>
            <a:xfrm>
              <a:off x="0" y="0"/>
              <a:ext cx="7332034" cy="2617391"/>
            </a:xfrm>
            <a:prstGeom prst="roundRect">
              <a:avLst>
                <a:gd name="adj" fmla="val 20292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99" name="About me"/>
          <p:cNvSpPr txBox="1"/>
          <p:nvPr>
            <p:ph type="title"/>
          </p:nvPr>
        </p:nvSpPr>
        <p:spPr>
          <a:xfrm>
            <a:off x="1075498" y="592682"/>
            <a:ext cx="5130860" cy="1433164"/>
          </a:xfrm>
          <a:prstGeom prst="rect">
            <a:avLst/>
          </a:prstGeom>
        </p:spPr>
        <p:txBody>
          <a:bodyPr/>
          <a:lstStyle/>
          <a:p>
            <a:pPr/>
            <a:r>
              <a:t>About me</a:t>
            </a:r>
          </a:p>
        </p:txBody>
      </p:sp>
      <p:sp>
        <p:nvSpPr>
          <p:cNvPr id="300" name="Rectangle"/>
          <p:cNvSpPr/>
          <p:nvPr/>
        </p:nvSpPr>
        <p:spPr>
          <a:xfrm>
            <a:off x="-4629" y="-55089"/>
            <a:ext cx="492012" cy="13826177"/>
          </a:xfrm>
          <a:prstGeom prst="rect">
            <a:avLst/>
          </a:prstGeom>
          <a:solidFill>
            <a:srgbClr val="2337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2438C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교육  Education"/>
          <p:cNvSpPr txBox="1"/>
          <p:nvPr/>
        </p:nvSpPr>
        <p:spPr>
          <a:xfrm>
            <a:off x="1484341" y="2957277"/>
            <a:ext cx="4409030" cy="1004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교육  Education</a:t>
            </a:r>
          </a:p>
        </p:txBody>
      </p:sp>
      <p:sp>
        <p:nvSpPr>
          <p:cNvPr id="302" name="뉴욕 Pratt Institute 산업디자인 전공…"/>
          <p:cNvSpPr txBox="1"/>
          <p:nvPr/>
        </p:nvSpPr>
        <p:spPr>
          <a:xfrm>
            <a:off x="1364015" y="4071049"/>
            <a:ext cx="7180877" cy="112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55600" indent="-355600" algn="l" defTabSz="457200"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뉴욕 Pratt Institute 산업디자인 전공</a:t>
            </a:r>
          </a:p>
          <a:p>
            <a:pPr marL="355600" indent="-355600" algn="l" defTabSz="457200"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섬유미술 학사</a:t>
            </a:r>
          </a:p>
        </p:txBody>
      </p:sp>
      <p:sp>
        <p:nvSpPr>
          <p:cNvPr id="303" name="경력  Professional Experience"/>
          <p:cNvSpPr txBox="1"/>
          <p:nvPr/>
        </p:nvSpPr>
        <p:spPr>
          <a:xfrm>
            <a:off x="1452419" y="6430797"/>
            <a:ext cx="6389053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17244">
              <a:defRPr b="1" sz="3564">
                <a:solidFill>
                  <a:srgbClr val="FFFFFF"/>
                </a:solidFill>
              </a:defRPr>
            </a:lvl1pPr>
          </a:lstStyle>
          <a:p>
            <a:pPr/>
            <a:r>
              <a:t>경력  Professional Experience</a:t>
            </a:r>
          </a:p>
        </p:txBody>
      </p:sp>
      <p:sp>
        <p:nvSpPr>
          <p:cNvPr id="304" name="5년 이상의 UX/UI 실무 경험…"/>
          <p:cNvSpPr txBox="1"/>
          <p:nvPr/>
        </p:nvSpPr>
        <p:spPr>
          <a:xfrm>
            <a:off x="1332093" y="7608479"/>
            <a:ext cx="7180877" cy="1620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55600" indent="-355600" algn="l" defTabSz="457200">
              <a:spcBef>
                <a:spcPts val="16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5년 이상의 UX/UI 실무 경험</a:t>
            </a:r>
          </a:p>
          <a:p>
            <a:pPr marL="355600" indent="-355600" algn="l" defTabSz="457200">
              <a:spcBef>
                <a:spcPts val="16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B2B 플랫폼, 모빌리티 서비스, 글로벌 제품 </a:t>
            </a:r>
            <a:br/>
            <a:r>
              <a:t>디자인 경험</a:t>
            </a:r>
          </a:p>
        </p:txBody>
      </p:sp>
      <p:sp>
        <p:nvSpPr>
          <p:cNvPr id="305" name="전문성  Core Expertise"/>
          <p:cNvSpPr txBox="1"/>
          <p:nvPr/>
        </p:nvSpPr>
        <p:spPr>
          <a:xfrm>
            <a:off x="1535917" y="10635711"/>
            <a:ext cx="5748249" cy="75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전문성  Core Expertise</a:t>
            </a:r>
          </a:p>
        </p:txBody>
      </p:sp>
      <p:sp>
        <p:nvSpPr>
          <p:cNvPr id="306" name="복잡한 시스템 UX, 워크플로우 설계,  정보 구조(IA) 설계"/>
          <p:cNvSpPr txBox="1"/>
          <p:nvPr/>
        </p:nvSpPr>
        <p:spPr>
          <a:xfrm>
            <a:off x="1415591" y="11792021"/>
            <a:ext cx="7180877" cy="112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55600" indent="-355600" algn="l" defTabSz="457200">
              <a:spcBef>
                <a:spcPts val="16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복잡한 시스템 UX, 워크플로우 설계, </a:t>
            </a:r>
            <a:br/>
            <a:r>
              <a:t>정보 구조(IA) 설계</a:t>
            </a:r>
          </a:p>
        </p:txBody>
      </p:sp>
      <p:pic>
        <p:nvPicPr>
          <p:cNvPr id="307" name="07351318-3098-4B25-8611-2EF229DC1FE6.PNG" descr="07351318-3098-4B25-8611-2EF229DC1FE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16006" y="-305991"/>
            <a:ext cx="9551894" cy="1432784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2" name="Group"/>
          <p:cNvGrpSpPr/>
          <p:nvPr/>
        </p:nvGrpSpPr>
        <p:grpSpPr>
          <a:xfrm>
            <a:off x="16665171" y="9987503"/>
            <a:ext cx="7332035" cy="3155698"/>
            <a:chOff x="0" y="0"/>
            <a:chExt cx="7332033" cy="3155697"/>
          </a:xfrm>
        </p:grpSpPr>
        <p:grpSp>
          <p:nvGrpSpPr>
            <p:cNvPr id="310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308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09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311" name="Rounded Rectangle"/>
            <p:cNvSpPr/>
            <p:nvPr/>
          </p:nvSpPr>
          <p:spPr>
            <a:xfrm>
              <a:off x="0" y="0"/>
              <a:ext cx="7332034" cy="3155698"/>
            </a:xfrm>
            <a:prstGeom prst="roundRect">
              <a:avLst>
                <a:gd name="adj" fmla="val 16831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317" name="Group"/>
          <p:cNvGrpSpPr/>
          <p:nvPr/>
        </p:nvGrpSpPr>
        <p:grpSpPr>
          <a:xfrm>
            <a:off x="16748669" y="6408590"/>
            <a:ext cx="7332034" cy="2766644"/>
            <a:chOff x="0" y="0"/>
            <a:chExt cx="7332033" cy="2766642"/>
          </a:xfrm>
        </p:grpSpPr>
        <p:grpSp>
          <p:nvGrpSpPr>
            <p:cNvPr id="315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313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4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316" name="Rounded Rectangle"/>
            <p:cNvSpPr/>
            <p:nvPr/>
          </p:nvSpPr>
          <p:spPr>
            <a:xfrm>
              <a:off x="0" y="0"/>
              <a:ext cx="7332034" cy="2766643"/>
            </a:xfrm>
            <a:prstGeom prst="roundRect">
              <a:avLst>
                <a:gd name="adj" fmla="val 19197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322" name="Group"/>
          <p:cNvGrpSpPr/>
          <p:nvPr/>
        </p:nvGrpSpPr>
        <p:grpSpPr>
          <a:xfrm>
            <a:off x="16665171" y="2030286"/>
            <a:ext cx="7332035" cy="3852309"/>
            <a:chOff x="0" y="0"/>
            <a:chExt cx="7332033" cy="3852307"/>
          </a:xfrm>
        </p:grpSpPr>
        <p:grpSp>
          <p:nvGrpSpPr>
            <p:cNvPr id="320" name="Group"/>
            <p:cNvGrpSpPr/>
            <p:nvPr/>
          </p:nvGrpSpPr>
          <p:grpSpPr>
            <a:xfrm>
              <a:off x="0" y="15468"/>
              <a:ext cx="7315232" cy="1177133"/>
              <a:chOff x="0" y="0"/>
              <a:chExt cx="7315231" cy="1177131"/>
            </a:xfrm>
          </p:grpSpPr>
          <p:sp>
            <p:nvSpPr>
              <p:cNvPr id="318" name="Rectangle"/>
              <p:cNvSpPr/>
              <p:nvPr/>
            </p:nvSpPr>
            <p:spPr>
              <a:xfrm>
                <a:off x="0" y="578506"/>
                <a:ext cx="7315232" cy="598626"/>
              </a:xfrm>
              <a:prstGeom prst="rect">
                <a:avLst/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9" name="Rounded Rectangle"/>
              <p:cNvSpPr/>
              <p:nvPr/>
            </p:nvSpPr>
            <p:spPr>
              <a:xfrm>
                <a:off x="0" y="0"/>
                <a:ext cx="7315232" cy="1047984"/>
              </a:xfrm>
              <a:prstGeom prst="roundRect">
                <a:avLst>
                  <a:gd name="adj" fmla="val 50000"/>
                </a:avLst>
              </a:prstGeom>
              <a:solidFill>
                <a:srgbClr val="2337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321" name="Rounded Rectangle"/>
            <p:cNvSpPr/>
            <p:nvPr/>
          </p:nvSpPr>
          <p:spPr>
            <a:xfrm>
              <a:off x="0" y="0"/>
              <a:ext cx="7332034" cy="3852308"/>
            </a:xfrm>
            <a:prstGeom prst="roundRect">
              <a:avLst>
                <a:gd name="adj" fmla="val 13787"/>
              </a:avLst>
            </a:prstGeom>
            <a:noFill/>
            <a:ln w="762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323" name="스킬  Skills &amp; Tools"/>
          <p:cNvSpPr txBox="1"/>
          <p:nvPr/>
        </p:nvSpPr>
        <p:spPr>
          <a:xfrm>
            <a:off x="17136662" y="2339818"/>
            <a:ext cx="4837626" cy="1004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스킬  Skills &amp; Tools</a:t>
            </a:r>
          </a:p>
        </p:txBody>
      </p:sp>
      <p:sp>
        <p:nvSpPr>
          <p:cNvPr id="324" name="Figma, Adobe Suite…"/>
          <p:cNvSpPr txBox="1"/>
          <p:nvPr/>
        </p:nvSpPr>
        <p:spPr>
          <a:xfrm>
            <a:off x="17016336" y="3453590"/>
            <a:ext cx="7180877" cy="217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57200" indent="-457200" algn="l" defTabSz="457200">
              <a:spcBef>
                <a:spcPts val="11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Figma, Adobe Suite</a:t>
            </a:r>
          </a:p>
          <a:p>
            <a:pPr marL="457200" indent="-457200" algn="l" defTabSz="457200">
              <a:spcBef>
                <a:spcPts val="11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HTML/CSS 기반 협업 가능</a:t>
            </a:r>
          </a:p>
          <a:p>
            <a:pPr marL="457200" indent="-457200" algn="l" defTabSz="457200">
              <a:spcBef>
                <a:spcPts val="11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Wireframe, Prototype</a:t>
            </a:r>
          </a:p>
          <a:p>
            <a:pPr marL="457200" indent="-457200" algn="l" defTabSz="457200">
              <a:spcBef>
                <a:spcPts val="11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Design System 설계 경험</a:t>
            </a:r>
          </a:p>
        </p:txBody>
      </p:sp>
      <p:sp>
        <p:nvSpPr>
          <p:cNvPr id="325" name="멀티 도메인 경험 Cross-domain"/>
          <p:cNvSpPr txBox="1"/>
          <p:nvPr/>
        </p:nvSpPr>
        <p:spPr>
          <a:xfrm>
            <a:off x="17220160" y="6708088"/>
            <a:ext cx="6389053" cy="757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멀티 도메인 경험 Cross-domain</a:t>
            </a:r>
          </a:p>
        </p:txBody>
      </p:sp>
      <p:sp>
        <p:nvSpPr>
          <p:cNvPr id="326" name="모빌리티, B2B SaaS, 마케팅, 패션/생산 등 다양한 산업 경험"/>
          <p:cNvSpPr txBox="1"/>
          <p:nvPr/>
        </p:nvSpPr>
        <p:spPr>
          <a:xfrm>
            <a:off x="17099834" y="7898470"/>
            <a:ext cx="7180876" cy="9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55600" indent="-355600" algn="l" defTabSz="457200">
              <a:spcBef>
                <a:spcPts val="1600"/>
              </a:spcBef>
              <a:buSzPct val="123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모빌리티, B2B SaaS, 마케팅, 패션/생산 등</a:t>
            </a:r>
            <a:br/>
            <a:r>
              <a:t>다양한 산업 경험</a:t>
            </a:r>
          </a:p>
        </p:txBody>
      </p:sp>
      <p:sp>
        <p:nvSpPr>
          <p:cNvPr id="327" name="언어  Languages"/>
          <p:cNvSpPr txBox="1"/>
          <p:nvPr/>
        </p:nvSpPr>
        <p:spPr>
          <a:xfrm>
            <a:off x="17136662" y="10304526"/>
            <a:ext cx="7244720" cy="757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8255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언어  Languages</a:t>
            </a:r>
          </a:p>
        </p:txBody>
      </p:sp>
      <p:sp>
        <p:nvSpPr>
          <p:cNvPr id="328" name="한국어 (Native)…"/>
          <p:cNvSpPr txBox="1"/>
          <p:nvPr/>
        </p:nvSpPr>
        <p:spPr>
          <a:xfrm>
            <a:off x="17016336" y="11525103"/>
            <a:ext cx="7180877" cy="180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l" defTabSz="457200">
              <a:buSzPct val="100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한국어 (Native)</a:t>
            </a:r>
          </a:p>
          <a:p>
            <a:pPr marL="228600" indent="-228600" algn="l" defTabSz="457200">
              <a:buSzPct val="100000"/>
              <a:buChar char="-"/>
              <a:defRPr sz="2800">
                <a:solidFill>
                  <a:srgbClr val="000000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r>
              <a:t>영어 (업무 커뮤니케이션 가능)</a:t>
            </a:r>
            <a:br/>
            <a:r>
              <a:t>TOEIC 915, TOFEL 94</a:t>
            </a:r>
          </a:p>
        </p:txBody>
      </p:sp>
      <p:sp>
        <p:nvSpPr>
          <p:cNvPr id="329" name="Line"/>
          <p:cNvSpPr/>
          <p:nvPr/>
        </p:nvSpPr>
        <p:spPr>
          <a:xfrm flipV="1">
            <a:off x="11684000" y="6350000"/>
            <a:ext cx="1270000" cy="12700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